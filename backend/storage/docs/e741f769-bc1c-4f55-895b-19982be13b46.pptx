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4" r:id="rId7"/>
    <p:sldId id="260" r:id="rId8"/>
    <p:sldId id="261" r:id="rId9"/>
    <p:sldId id="262" r:id="rId10"/>
    <p:sldId id="263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0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798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16A085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914400" y="4754880"/>
            <a:ext cx="3108960" cy="310896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508760"/>
            <a:ext cx="3912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 UNIFIED PLATFORM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Licensing,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Permitting &amp; Inspections -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platform.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49808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POC walkthrough  ·  Built on Microsoft Power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technical overview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market is heading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 are increasingly asking for one platform instead of three disconnected systems. The signal was clear, and we decided to get ahead of it.</a:t>
            </a:r>
            <a:endParaRPr lang="en-US" sz="16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B3A177D-4D3D-D30F-546A-D5B8353E07E0}"/>
              </a:ext>
            </a:extLst>
          </p:cNvPr>
          <p:cNvGrpSpPr/>
          <p:nvPr/>
        </p:nvGrpSpPr>
        <p:grpSpPr>
          <a:xfrm>
            <a:off x="640080" y="2743200"/>
            <a:ext cx="3429000" cy="3017520"/>
            <a:chOff x="640080" y="2743200"/>
            <a:chExt cx="3429000" cy="3017520"/>
          </a:xfrm>
        </p:grpSpPr>
        <p:sp>
          <p:nvSpPr>
            <p:cNvPr id="5" name="Shape 3"/>
            <p:cNvSpPr/>
            <p:nvPr/>
          </p:nvSpPr>
          <p:spPr>
            <a:xfrm>
              <a:off x="640080" y="2743200"/>
              <a:ext cx="3429000" cy="3017520"/>
            </a:xfrm>
            <a:prstGeom prst="rect">
              <a:avLst/>
            </a:prstGeom>
            <a:solidFill>
              <a:srgbClr val="F4F8FA"/>
            </a:solidFill>
            <a:ln w="12700">
              <a:solidFill>
                <a:srgbClr val="CBDAE2"/>
              </a:solidFill>
              <a:prstDash val="solid"/>
            </a:ln>
            <a:effectLst>
              <a:outerShdw blurRad="63500" dist="25400" dir="8100000" algn="bl" rotWithShape="0">
                <a:srgbClr val="13262F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640080" y="2743200"/>
              <a:ext cx="3429000" cy="82296"/>
            </a:xfrm>
            <a:prstGeom prst="rect">
              <a:avLst/>
            </a:prstGeom>
            <a:solidFill>
              <a:srgbClr val="16A085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106F8DB-F8E1-DD83-86CC-CD39D2924A45}"/>
              </a:ext>
            </a:extLst>
          </p:cNvPr>
          <p:cNvGrpSpPr/>
          <p:nvPr/>
        </p:nvGrpSpPr>
        <p:grpSpPr>
          <a:xfrm>
            <a:off x="836295" y="2894347"/>
            <a:ext cx="777240" cy="777240"/>
            <a:chOff x="960120" y="3108960"/>
            <a:chExt cx="777240" cy="777240"/>
          </a:xfrm>
        </p:grpSpPr>
        <p:sp>
          <p:nvSpPr>
            <p:cNvPr id="7" name="Shape 5"/>
            <p:cNvSpPr/>
            <p:nvPr/>
          </p:nvSpPr>
          <p:spPr>
            <a:xfrm>
              <a:off x="960120" y="3108960"/>
              <a:ext cx="777240" cy="77724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AE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3000" y="3291840"/>
              <a:ext cx="411480" cy="411480"/>
            </a:xfrm>
            <a:prstGeom prst="rect">
              <a:avLst/>
            </a:prstGeom>
          </p:spPr>
        </p:pic>
      </p:grpSp>
      <p:sp>
        <p:nvSpPr>
          <p:cNvPr id="9" name="Text 6"/>
          <p:cNvSpPr/>
          <p:nvPr/>
        </p:nvSpPr>
        <p:spPr>
          <a:xfrm>
            <a:off x="960120" y="3854467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4101355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signal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60120" y="4558554"/>
            <a:ext cx="2788920" cy="110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Bismarck city RFP called for a single unified platform combining licensing, permitting, inspections &amp; code enforcement.</a:t>
            </a:r>
            <a:endParaRPr lang="en-US" sz="14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B12BCD-81AB-DD5D-4926-0E82ED6B481F}"/>
              </a:ext>
            </a:extLst>
          </p:cNvPr>
          <p:cNvGrpSpPr/>
          <p:nvPr/>
        </p:nvGrpSpPr>
        <p:grpSpPr>
          <a:xfrm>
            <a:off x="4462272" y="2743200"/>
            <a:ext cx="3429000" cy="3017520"/>
            <a:chOff x="4462272" y="2743200"/>
            <a:chExt cx="3429000" cy="3017520"/>
          </a:xfrm>
        </p:grpSpPr>
        <p:sp>
          <p:nvSpPr>
            <p:cNvPr id="12" name="Shape 9"/>
            <p:cNvSpPr/>
            <p:nvPr/>
          </p:nvSpPr>
          <p:spPr>
            <a:xfrm>
              <a:off x="4462272" y="2743200"/>
              <a:ext cx="3429000" cy="3017520"/>
            </a:xfrm>
            <a:prstGeom prst="rect">
              <a:avLst/>
            </a:prstGeom>
            <a:solidFill>
              <a:srgbClr val="F4F8FA"/>
            </a:solidFill>
            <a:ln w="12700">
              <a:solidFill>
                <a:srgbClr val="CBDAE2"/>
              </a:solidFill>
              <a:prstDash val="solid"/>
            </a:ln>
            <a:effectLst>
              <a:outerShdw blurRad="63500" dist="25400" dir="8100000" algn="bl" rotWithShape="0">
                <a:srgbClr val="13262F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0"/>
            <p:cNvSpPr/>
            <p:nvPr/>
          </p:nvSpPr>
          <p:spPr>
            <a:xfrm>
              <a:off x="4462272" y="2743200"/>
              <a:ext cx="3429000" cy="82296"/>
            </a:xfrm>
            <a:prstGeom prst="rect">
              <a:avLst/>
            </a:prstGeom>
            <a:solidFill>
              <a:srgbClr val="16A085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584E6F-B33F-FAAD-61A6-1B80B9597401}"/>
              </a:ext>
            </a:extLst>
          </p:cNvPr>
          <p:cNvGrpSpPr/>
          <p:nvPr/>
        </p:nvGrpSpPr>
        <p:grpSpPr>
          <a:xfrm>
            <a:off x="4658487" y="2894347"/>
            <a:ext cx="777240" cy="777240"/>
            <a:chOff x="4782312" y="3108960"/>
            <a:chExt cx="777240" cy="777240"/>
          </a:xfrm>
        </p:grpSpPr>
        <p:sp>
          <p:nvSpPr>
            <p:cNvPr id="14" name="Shape 11"/>
            <p:cNvSpPr/>
            <p:nvPr/>
          </p:nvSpPr>
          <p:spPr>
            <a:xfrm>
              <a:off x="4782312" y="3108960"/>
              <a:ext cx="777240" cy="77724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AE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192" y="3291840"/>
              <a:ext cx="411480" cy="411480"/>
            </a:xfrm>
            <a:prstGeom prst="rect">
              <a:avLst/>
            </a:prstGeom>
          </p:spPr>
        </p:pic>
      </p:grpSp>
      <p:sp>
        <p:nvSpPr>
          <p:cNvPr id="16" name="Text 12"/>
          <p:cNvSpPr/>
          <p:nvPr/>
        </p:nvSpPr>
        <p:spPr>
          <a:xfrm>
            <a:off x="4782312" y="3854467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782312" y="4101355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decision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782312" y="4558555"/>
            <a:ext cx="2788920" cy="11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couldn't respond to that RFP in time, so we chose to build an MVP / POC, ready for the next opportunity.</a:t>
            </a:r>
            <a:endParaRPr lang="en-US" sz="1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6AB176-E837-1867-B502-B84B6586E3E0}"/>
              </a:ext>
            </a:extLst>
          </p:cNvPr>
          <p:cNvGrpSpPr/>
          <p:nvPr/>
        </p:nvGrpSpPr>
        <p:grpSpPr>
          <a:xfrm>
            <a:off x="8284464" y="2743200"/>
            <a:ext cx="3429000" cy="3017520"/>
            <a:chOff x="8284464" y="2743200"/>
            <a:chExt cx="3429000" cy="3017520"/>
          </a:xfrm>
        </p:grpSpPr>
        <p:sp>
          <p:nvSpPr>
            <p:cNvPr id="19" name="Shape 15"/>
            <p:cNvSpPr/>
            <p:nvPr/>
          </p:nvSpPr>
          <p:spPr>
            <a:xfrm>
              <a:off x="8284464" y="2743200"/>
              <a:ext cx="3429000" cy="3017520"/>
            </a:xfrm>
            <a:prstGeom prst="rect">
              <a:avLst/>
            </a:prstGeom>
            <a:solidFill>
              <a:srgbClr val="F4F8FA"/>
            </a:solidFill>
            <a:ln w="12700">
              <a:solidFill>
                <a:srgbClr val="CBDAE2"/>
              </a:solidFill>
              <a:prstDash val="solid"/>
            </a:ln>
            <a:effectLst>
              <a:outerShdw blurRad="63500" dist="25400" dir="8100000" algn="bl" rotWithShape="0">
                <a:srgbClr val="13262F">
                  <a:alpha val="1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16"/>
            <p:cNvSpPr/>
            <p:nvPr/>
          </p:nvSpPr>
          <p:spPr>
            <a:xfrm>
              <a:off x="8284464" y="2743200"/>
              <a:ext cx="3429000" cy="82296"/>
            </a:xfrm>
            <a:prstGeom prst="rect">
              <a:avLst/>
            </a:prstGeom>
            <a:solidFill>
              <a:srgbClr val="16A085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FF2E013-15B7-49D1-FA83-FF86C9CA6178}"/>
              </a:ext>
            </a:extLst>
          </p:cNvPr>
          <p:cNvGrpSpPr/>
          <p:nvPr/>
        </p:nvGrpSpPr>
        <p:grpSpPr>
          <a:xfrm>
            <a:off x="8480679" y="2894347"/>
            <a:ext cx="777240" cy="777240"/>
            <a:chOff x="8604504" y="3108960"/>
            <a:chExt cx="777240" cy="777240"/>
          </a:xfrm>
        </p:grpSpPr>
        <p:sp>
          <p:nvSpPr>
            <p:cNvPr id="21" name="Shape 17"/>
            <p:cNvSpPr/>
            <p:nvPr/>
          </p:nvSpPr>
          <p:spPr>
            <a:xfrm>
              <a:off x="8604504" y="3108960"/>
              <a:ext cx="777240" cy="77724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BDAE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87384" y="3291840"/>
              <a:ext cx="411480" cy="4114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pic>
      </p:grpSp>
      <p:sp>
        <p:nvSpPr>
          <p:cNvPr id="23" name="Text 18"/>
          <p:cNvSpPr/>
          <p:nvPr/>
        </p:nvSpPr>
        <p:spPr>
          <a:xfrm>
            <a:off x="8604504" y="3854467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604504" y="4101355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foundation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8604504" y="4558555"/>
            <a:ext cx="2788920" cy="11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the Bismarck RFP requirements as the blueprint, building toward the unified model the market now expects.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0B3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traditional LPI. It's what LPI becomes.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4036" y="2240280"/>
            <a:ext cx="5074920" cy="3566160"/>
          </a:xfrm>
          <a:prstGeom prst="rect">
            <a:avLst/>
          </a:prstGeom>
          <a:solidFill>
            <a:srgbClr val="12455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4076" y="25328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BDA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4076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Separate, siloed systems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9836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permitting &amp; inspections run apart</a:t>
            </a:r>
            <a:endParaRPr lang="en-US" sz="1350" b="1" dirty="0"/>
          </a:p>
        </p:txBody>
      </p:sp>
      <p:sp>
        <p:nvSpPr>
          <p:cNvPr id="8" name="Text 6"/>
          <p:cNvSpPr/>
          <p:nvPr/>
        </p:nvSpPr>
        <p:spPr>
          <a:xfrm>
            <a:off x="1049836" y="4023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re-entered across disconnected tools</a:t>
            </a:r>
            <a:endParaRPr lang="en-US" sz="1350" b="1" dirty="0"/>
          </a:p>
        </p:txBody>
      </p:sp>
      <p:sp>
        <p:nvSpPr>
          <p:cNvPr id="9" name="Text 7"/>
          <p:cNvSpPr/>
          <p:nvPr/>
        </p:nvSpPr>
        <p:spPr>
          <a:xfrm>
            <a:off x="1049836" y="4572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violation in one system can't touch another</a:t>
            </a:r>
            <a:endParaRPr lang="en-US" sz="1350" b="1" dirty="0"/>
          </a:p>
        </p:txBody>
      </p:sp>
      <p:sp>
        <p:nvSpPr>
          <p:cNvPr id="10" name="Text 8"/>
          <p:cNvSpPr/>
          <p:nvPr/>
        </p:nvSpPr>
        <p:spPr>
          <a:xfrm>
            <a:off x="1049836" y="5120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–"/>
            </a:pPr>
            <a:r>
              <a:rPr lang="en-US" sz="135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chase status across many portals</a:t>
            </a:r>
            <a:endParaRPr lang="en-US" sz="1350" b="1" dirty="0"/>
          </a:p>
        </p:txBody>
      </p:sp>
      <p:sp>
        <p:nvSpPr>
          <p:cNvPr id="11" name="Shape 9"/>
          <p:cNvSpPr/>
          <p:nvPr/>
        </p:nvSpPr>
        <p:spPr>
          <a:xfrm>
            <a:off x="5672039" y="3611880"/>
            <a:ext cx="822960" cy="822960"/>
          </a:xfrm>
          <a:prstGeom prst="ellipse">
            <a:avLst/>
          </a:prstGeom>
          <a:solidFill>
            <a:srgbClr val="16A085"/>
          </a:solidFill>
          <a:ln/>
          <a:effectLst>
            <a:outerShdw blurRad="101600" dist="38100" dir="8100000" algn="bl" rotWithShape="0">
              <a:srgbClr val="0B3A53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837988" y="2240280"/>
            <a:ext cx="5074920" cy="3566160"/>
          </a:xfrm>
          <a:prstGeom prst="rect">
            <a:avLst/>
          </a:prstGeom>
          <a:solidFill>
            <a:srgbClr val="16A085"/>
          </a:solidFill>
          <a:ln/>
          <a:effectLst>
            <a:outerShdw blurRad="101600" dist="38100" dir="8100000" algn="bl" rotWithShape="0">
              <a:srgbClr val="0B3A53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158028" y="25328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LPI UNIFIED PLATFORM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58028" y="284378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record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523788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workflows on a single platform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523788" y="40233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property record connects everything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523788" y="45720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violation auto-freezes active permits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523788" y="5120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✓"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track everything in one portal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1971241-BE9F-3431-A884-9384AD0222B9}"/>
              </a:ext>
            </a:extLst>
          </p:cNvPr>
          <p:cNvSpPr/>
          <p:nvPr/>
        </p:nvSpPr>
        <p:spPr>
          <a:xfrm>
            <a:off x="5776737" y="3889866"/>
            <a:ext cx="607470" cy="266988"/>
          </a:xfrm>
          <a:prstGeom prst="rightArrow">
            <a:avLst>
              <a:gd name="adj1" fmla="val 50000"/>
              <a:gd name="adj2" fmla="val 8877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55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Property Record connects it 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5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Permit, a License, an Inspection and a Code case at the same address aren't separate records, they're different views of the same property. That single anchor is what makes the platform unified.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552309" y="3811763"/>
            <a:ext cx="0" cy="0"/>
          </a:xfrm>
          <a:prstGeom prst="line">
            <a:avLst/>
          </a:prstGeom>
          <a:noFill/>
          <a:ln w="254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 flipV="1">
            <a:off x="10295198" y="2608446"/>
            <a:ext cx="477315" cy="522377"/>
          </a:xfrm>
          <a:prstGeom prst="line">
            <a:avLst/>
          </a:prstGeom>
          <a:noFill/>
          <a:ln w="254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177599" y="4528868"/>
            <a:ext cx="537701" cy="647844"/>
          </a:xfrm>
          <a:prstGeom prst="line">
            <a:avLst/>
          </a:prstGeom>
          <a:noFill/>
          <a:ln w="254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 flipH="1">
            <a:off x="8339592" y="4528868"/>
            <a:ext cx="537701" cy="710644"/>
          </a:xfrm>
          <a:prstGeom prst="line">
            <a:avLst/>
          </a:prstGeom>
          <a:noFill/>
          <a:ln w="254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38368" y="1810512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538368" y="181051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72415" y="1804771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972415" y="1804771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72414" y="5167882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972414" y="516788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38368" y="5186939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38368" y="5186939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3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92189" y="2851643"/>
            <a:ext cx="1920240" cy="1920240"/>
          </a:xfrm>
          <a:prstGeom prst="ellipse">
            <a:avLst/>
          </a:prstGeom>
          <a:solidFill>
            <a:srgbClr val="0B3A53"/>
          </a:solidFill>
          <a:ln w="3810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B3A53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277" y="3336275"/>
            <a:ext cx="512064" cy="51206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592189" y="3866627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4893562"/>
            <a:ext cx="6040974" cy="132588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40080" y="4893562"/>
            <a:ext cx="91440" cy="13258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14400" y="4991878"/>
            <a:ext cx="1117426" cy="358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5350762"/>
            <a:ext cx="56823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code violation -&gt; every active permit at that address freezes automatically. Resolve it and pay the fines -&gt; the holds release on their own. No manual linking.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88D24D9F-C8B8-3A75-57B0-25C7274465EC}"/>
              </a:ext>
            </a:extLst>
          </p:cNvPr>
          <p:cNvSpPr/>
          <p:nvPr/>
        </p:nvSpPr>
        <p:spPr>
          <a:xfrm>
            <a:off x="8339592" y="2608448"/>
            <a:ext cx="411477" cy="522376"/>
          </a:xfrm>
          <a:prstGeom prst="line">
            <a:avLst/>
          </a:prstGeom>
          <a:noFill/>
          <a:ln w="254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F2DD9FF-FB32-11E3-261B-34578E5C4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160" y="-56632"/>
            <a:ext cx="5525073" cy="686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68DFEA3B-6F8D-47D0-F2BD-57424EBB938C}"/>
              </a:ext>
            </a:extLst>
          </p:cNvPr>
          <p:cNvSpPr/>
          <p:nvPr/>
        </p:nvSpPr>
        <p:spPr>
          <a:xfrm>
            <a:off x="640080" y="841248"/>
            <a:ext cx="49929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01802D8-3538-1D40-E731-0F7BB1B50366}"/>
              </a:ext>
            </a:extLst>
          </p:cNvPr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2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F9AC0A8-1910-01B4-C2EA-6B173E4F888D}"/>
              </a:ext>
            </a:extLst>
          </p:cNvPr>
          <p:cNvSpPr/>
          <p:nvPr/>
        </p:nvSpPr>
        <p:spPr>
          <a:xfrm>
            <a:off x="640080" y="841248"/>
            <a:ext cx="48290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Architecture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7B1AF97-D9A9-0A95-7283-E286CFD9B5A9}"/>
              </a:ext>
            </a:extLst>
          </p:cNvPr>
          <p:cNvSpPr/>
          <p:nvPr/>
        </p:nvSpPr>
        <p:spPr>
          <a:xfrm>
            <a:off x="640080" y="1616595"/>
            <a:ext cx="5455920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20000"/>
              </a:lnSpc>
            </a:pPr>
            <a:r>
              <a:rPr lang="en-US" sz="15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 types, three apps, one shared record, and a layer of automatic triggers that make the workflows talk to each other without anyone clicking a thing.</a:t>
            </a:r>
          </a:p>
          <a:p>
            <a:pPr algn="just">
              <a:lnSpc>
                <a:spcPct val="120000"/>
              </a:lnSpc>
            </a:pPr>
            <a:endParaRPr lang="en-US" sz="1550" dirty="0">
              <a:solidFill>
                <a:srgbClr val="5B75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ct val="120000"/>
              </a:lnSpc>
            </a:pPr>
            <a:r>
              <a:rPr lang="en-US" sz="15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works in the app built for them, Citizens, Business Owners and Contractors in Power Pages, Staff in the Model-Driven App, and Inspectors in the Canvas app.</a:t>
            </a:r>
          </a:p>
          <a:p>
            <a:pPr algn="just">
              <a:lnSpc>
                <a:spcPct val="120000"/>
              </a:lnSpc>
            </a:pPr>
            <a:endParaRPr lang="en-US" sz="1550" dirty="0">
              <a:solidFill>
                <a:srgbClr val="5B75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ct val="120000"/>
              </a:lnSpc>
            </a:pPr>
            <a:r>
              <a:rPr lang="en-US" sz="15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writes to one Shared Property Record i.e. the single source of truth all five workflows read from.</a:t>
            </a:r>
          </a:p>
          <a:p>
            <a:pPr algn="just">
              <a:lnSpc>
                <a:spcPct val="120000"/>
              </a:lnSpc>
            </a:pPr>
            <a:endParaRPr lang="en-US" sz="1550" dirty="0">
              <a:solidFill>
                <a:srgbClr val="5B75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ct val="120000"/>
              </a:lnSpc>
            </a:pPr>
            <a:r>
              <a:rPr lang="en-US" sz="15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Cross-Workflow Triggers fire automatically. A code violation freezes permits, a passed permit spawns inspections, a lapsed license opens a code case. No manual steps.</a:t>
            </a:r>
          </a:p>
          <a:p>
            <a:pPr algn="just">
              <a:lnSpc>
                <a:spcPct val="120000"/>
              </a:lnSpc>
            </a:pPr>
            <a:endParaRPr lang="en-US" sz="1550" dirty="0">
              <a:solidFill>
                <a:srgbClr val="5B75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>
              <a:lnSpc>
                <a:spcPct val="120000"/>
              </a:lnSpc>
            </a:pPr>
            <a:r>
              <a:rPr lang="en-US" sz="15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(payments, notifications, GIS, SSO) and external APIs (ERP, CRM, plan review, payment gateway) plug in underneath.</a:t>
            </a: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BFC875BB-B8A2-AD2C-DE91-554A78C76E5A}"/>
              </a:ext>
            </a:extLst>
          </p:cNvPr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93780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entirely on Microsoft Power Platform</a:t>
            </a:r>
            <a:endParaRPr lang="en-US" sz="3200" dirty="0"/>
          </a:p>
        </p:txBody>
      </p:sp>
      <p:pic>
        <p:nvPicPr>
          <p:cNvPr id="4" name="Image 0" descr="images/LPI_Mind_Map-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585695"/>
            <a:ext cx="7782210" cy="47890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21119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</a:t>
            </a:r>
            <a:r>
              <a:rPr lang="en-US" sz="1200" i="1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r>
              <a:rPr lang="en-US" sz="1100" i="1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8620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building blocks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86200" y="2286000"/>
            <a:ext cx="4206240" cy="86868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969080" y="2487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808" y="25968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09160" y="239572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Model-Driven App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609160" y="268833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back-office: review, routing, code cases.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786200" y="3273552"/>
            <a:ext cx="4206240" cy="86868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7969080" y="3474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808" y="35844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09160" y="33832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Pages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609160" y="367588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citizen portal: apply, pay, track.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786200" y="4261104"/>
            <a:ext cx="4206240" cy="86868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7969080" y="44622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808" y="4572000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09160" y="43708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Canvas App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609160" y="46634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mobile: offline checklist &amp; photos.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786200" y="5248656"/>
            <a:ext cx="4206240" cy="86868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7969080" y="54498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8808" y="555955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09160" y="535838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Automate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8609160" y="56509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engine: a lot of flows already built.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live, What's in progress, What's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27080" cy="841248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91440" cy="84124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07568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0253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1 - Registration &amp; Onboarding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33172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Pages portal complete. Account types, verification, dashboard.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92640" y="2093976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692640" y="209397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825496"/>
            <a:ext cx="10927080" cy="841248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0080" y="2825496"/>
            <a:ext cx="91440" cy="84124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02666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95351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2 - Permit Application Lifecycle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600200" y="328269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Pages + Model-Driven App. Apply, pay, review, issue certificate.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692640" y="304495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9692640" y="304495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377647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40080" y="3776472"/>
            <a:ext cx="91440" cy="84124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977640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90448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3 - Inspection Management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0200" y="423367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mobile app built - inspector views, pass/fail, comments. Wiring up.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692640" y="3995928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692640" y="399592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472744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40080" y="4727448"/>
            <a:ext cx="91440" cy="841248"/>
          </a:xfrm>
          <a:prstGeom prst="rect">
            <a:avLst/>
          </a:prstGeom>
          <a:solidFill>
            <a:srgbClr val="D864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928616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85546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4 - Business Licence Lifecycle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600200" y="518464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designed &amp; documented. Build not yet started.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692640" y="4946904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D864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9692640" y="494690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0080" y="567842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40080" y="5678424"/>
            <a:ext cx="91440" cy="841248"/>
          </a:xfrm>
          <a:prstGeom prst="rect">
            <a:avLst/>
          </a:prstGeom>
          <a:solidFill>
            <a:srgbClr val="D8643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879592"/>
            <a:ext cx="438912" cy="4389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00200" y="580644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WF 5 - Code Enforcement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1600200" y="61356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designed &amp; documented. Build not yet started.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9692640" y="589788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D864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9692640" y="589788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02336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-1280160"/>
            <a:ext cx="3474720" cy="3474720"/>
          </a:xfrm>
          <a:prstGeom prst="ellipse">
            <a:avLst/>
          </a:prstGeom>
          <a:solidFill>
            <a:srgbClr val="16A085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follow a citizen through the platform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applying for a permit, to staff review, to an inspector in the field, across Power Pages, the Model-Driven App, and the Canvas mobile app.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1  ·  WF 1 + WF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Citizen applies, And the Staff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27080" cy="187452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50505" y="23317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673" y="2532888"/>
            <a:ext cx="466344" cy="466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785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 ·  on Power Pages portal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847785" y="251460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929520" y="25127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57513" y="2852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 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475417" y="251460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557152" y="25127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85145" y="2852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permit type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03049" y="251460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184784" y="25127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12777" y="2852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multi-step form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30681" y="251460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812416" y="25127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40409" y="2852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358313" y="251460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440048" y="25127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68041" y="2852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fee online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985945" y="2514600"/>
            <a:ext cx="14813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10067680" y="251273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095673" y="28529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" y="3749040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triggers </a:t>
            </a:r>
            <a:r>
              <a:rPr lang="en-US" sz="120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r>
              <a:rPr lang="en-US" sz="115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flows  +  staff notification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8481060" y="3767328"/>
            <a:ext cx="0" cy="274320"/>
          </a:xfrm>
          <a:prstGeom prst="line">
            <a:avLst/>
          </a:prstGeom>
          <a:noFill/>
          <a:ln w="31750">
            <a:solidFill>
              <a:srgbClr val="16A08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640080" y="4160520"/>
            <a:ext cx="10927080" cy="1874520"/>
          </a:xfrm>
          <a:prstGeom prst="rect">
            <a:avLst/>
          </a:prstGeom>
          <a:solidFill>
            <a:srgbClr val="E8F1F5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810885" y="4663440"/>
            <a:ext cx="868680" cy="868680"/>
          </a:xfrm>
          <a:prstGeom prst="ellipse">
            <a:avLst/>
          </a:prstGeom>
          <a:solidFill>
            <a:srgbClr val="0B3A5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53" y="4864608"/>
            <a:ext cx="466344" cy="4663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908165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 staff  ·  on Model-Driven App</a:t>
            </a:r>
            <a:endParaRPr lang="en-US" sz="1700" dirty="0"/>
          </a:p>
        </p:txBody>
      </p:sp>
      <p:sp>
        <p:nvSpPr>
          <p:cNvPr id="32" name="Shape 28"/>
          <p:cNvSpPr/>
          <p:nvPr/>
        </p:nvSpPr>
        <p:spPr>
          <a:xfrm>
            <a:off x="1908165" y="48463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/>
          <p:nvPr/>
        </p:nvSpPr>
        <p:spPr>
          <a:xfrm>
            <a:off x="2072757" y="484632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lands in queue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4331325" y="48463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4495917" y="484632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docs &amp; details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6754485" y="48463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pPr algn="ctr"/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6919077" y="484632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-&gt;  inspection stage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9177645" y="484632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9342237" y="484632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request rework w/ comments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2  ·  WF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On-Field Inspector screen - Canvas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2468880" cy="4206240"/>
          </a:xfrm>
          <a:prstGeom prst="roundRect">
            <a:avLst>
              <a:gd name="adj" fmla="val 8148"/>
            </a:avLst>
          </a:prstGeom>
          <a:solidFill>
            <a:srgbClr val="0B3A53"/>
          </a:solidFill>
          <a:ln/>
          <a:effectLst>
            <a:outerShdw blurRad="101600" dist="38100" dir="8100000" algn="bl" rotWithShape="0">
              <a:srgbClr val="0B3A53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07008" y="617220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work fully offline · syncs on reconnect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1920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show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4114800" y="2423160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56032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983480" y="240487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Assigned inspections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983480" y="27340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sees the list of inspections scheduled and assigned to them.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114800" y="3355848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493008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983480" y="333756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Inspection detail &amp; checklist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4983480" y="366674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record, work the digital checklist, mark each item pass / fail / N/A.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4114800" y="4288536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425696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4983480" y="427024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 &amp; evidence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4983480" y="459943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 (and photos) against the inspection right from the field.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4114800" y="5221224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5358384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4983480" y="520293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syncs back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4983480" y="55321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-&gt; status flows back to the Model-Driven App in real time.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FBAA5E7-CF8A-56DA-9EDF-E78152E0FD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2164702"/>
            <a:ext cx="2226315" cy="3852050"/>
          </a:xfrm>
          <a:prstGeom prst="rect">
            <a:avLst/>
          </a:prstGeom>
          <a:ln w="25400" cap="rnd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to a complete unified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4160520"/>
            <a:ext cx="10149840" cy="0"/>
          </a:xfrm>
          <a:prstGeom prst="line">
            <a:avLst/>
          </a:prstGeom>
          <a:noFill/>
          <a:ln w="38100">
            <a:solidFill>
              <a:srgbClr val="CBDA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109978" y="3995928"/>
            <a:ext cx="329184" cy="329184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74570" y="3749040"/>
            <a:ext cx="0" cy="24688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40130" y="2148840"/>
            <a:ext cx="2468880" cy="160020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40130" y="214884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41298" y="23317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41298" y="258775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WF 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41298" y="2990088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inspection scheduling, assignment &amp; sync end-to-end.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47438" y="3995928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12030" y="4325112"/>
            <a:ext cx="0" cy="24688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77590" y="4572000"/>
            <a:ext cx="2468880" cy="160020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577590" y="4572000"/>
            <a:ext cx="24688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78758" y="475488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78758" y="501091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WF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78758" y="5413248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licence lifecycle - renewals, amendments, compliance.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84898" y="3995928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49490" y="3749040"/>
            <a:ext cx="0" cy="24688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15050" y="2148840"/>
            <a:ext cx="2468880" cy="160020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15050" y="2148840"/>
            <a:ext cx="24688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16218" y="233172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16218" y="258775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WF 5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16218" y="2990088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enforcement, violations, holds, fines, hold release.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22358" y="3995928"/>
            <a:ext cx="329184" cy="329184"/>
          </a:xfrm>
          <a:prstGeom prst="ellipse">
            <a:avLst/>
          </a:prstGeom>
          <a:solidFill>
            <a:srgbClr val="16A08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886950" y="4325112"/>
            <a:ext cx="0" cy="246888"/>
          </a:xfrm>
          <a:prstGeom prst="line">
            <a:avLst/>
          </a:prstGeom>
          <a:noFill/>
          <a:ln w="254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52510" y="4572000"/>
            <a:ext cx="2468880" cy="1600200"/>
          </a:xfrm>
          <a:prstGeom prst="rect">
            <a:avLst/>
          </a:prstGeom>
          <a:solidFill>
            <a:srgbClr val="F4F8FA"/>
          </a:solidFill>
          <a:ln w="12700">
            <a:solidFill>
              <a:srgbClr val="CBDAE2"/>
            </a:solidFill>
            <a:prstDash val="solid"/>
          </a:ln>
          <a:effectLst>
            <a:outerShdw blurRad="63500" dist="25400" dir="8100000" algn="bl" rotWithShape="0">
              <a:srgbClr val="13262F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652510" y="4572000"/>
            <a:ext cx="246888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853678" y="4754880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853678" y="501091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DEMO-Ready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853678" y="5413248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MVP / POC to demo to the next unified-platform RFP.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1C7293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6A085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rebuild of LPI, but a reinvention of it.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9808" y="41148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One shared property record. Four workflows that talk to each other automatically. This accelerator is how we'll be ready the next time a city asks for it.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299A18B97CF748AD91A0F81881D435" ma:contentTypeVersion="9" ma:contentTypeDescription="Create a new document." ma:contentTypeScope="" ma:versionID="4cf7436c0d6f6414b46ec07c23af6f49">
  <xsd:schema xmlns:xsd="http://www.w3.org/2001/XMLSchema" xmlns:xs="http://www.w3.org/2001/XMLSchema" xmlns:p="http://schemas.microsoft.com/office/2006/metadata/properties" xmlns:ns2="8fe3eb59-7cef-4b56-b201-e29cd94b2211" targetNamespace="http://schemas.microsoft.com/office/2006/metadata/properties" ma:root="true" ma:fieldsID="b1825385bac90ae296f344d608eddaf2" ns2:_="">
    <xsd:import namespace="8fe3eb59-7cef-4b56-b201-e29cd94b22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3eb59-7cef-4b56-b201-e29cd94b22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b378226-a8e0-43a2-ac43-169bca181a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e3eb59-7cef-4b56-b201-e29cd94b22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A01F8CC-800E-401A-A3C4-57E70F1AD366}"/>
</file>

<file path=customXml/itemProps2.xml><?xml version="1.0" encoding="utf-8"?>
<ds:datastoreItem xmlns:ds="http://schemas.openxmlformats.org/officeDocument/2006/customXml" ds:itemID="{4CDEAA3F-0561-46DE-BE42-A593E0F078F8}"/>
</file>

<file path=customXml/itemProps3.xml><?xml version="1.0" encoding="utf-8"?>
<ds:datastoreItem xmlns:ds="http://schemas.openxmlformats.org/officeDocument/2006/customXml" ds:itemID="{BC442040-E936-4F79-896D-96857BDE42EF}"/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992</Words>
  <Application>Microsoft Office PowerPoint</Application>
  <PresentationFormat>Widescreen</PresentationFormat>
  <Paragraphs>159</Paragraphs>
  <Slides>12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LPI Unified Platform — Accelerator Demo</dc:title>
  <dc:subject>PptxGenJS Presentation</dc:subject>
  <dc:creator>Meet Desai</dc:creator>
  <cp:lastModifiedBy>Meet Desai</cp:lastModifiedBy>
  <cp:revision>52</cp:revision>
  <dcterms:created xsi:type="dcterms:W3CDTF">2026-06-04T10:38:10Z</dcterms:created>
  <dcterms:modified xsi:type="dcterms:W3CDTF">2026-06-05T16:57:10Z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0x010100FE299A18B97CF748AD91A0F81881D435</vt:lpwstr>
  </property>
</Properties>
</file>